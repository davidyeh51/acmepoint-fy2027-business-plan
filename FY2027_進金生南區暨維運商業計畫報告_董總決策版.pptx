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原訂目標(萬)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統包工程(EPC)</c:v>
                </c:pt>
                <c:pt idx="1">
                  <c:v>資產管理(建坤)</c:v>
                </c:pt>
                <c:pt idx="2">
                  <c:v>南區合計</c:v>
                </c:pt>
                <c:pt idx="3">
                  <c:v>維運(O&amp;M)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40000</c:v>
                </c:pt>
                <c:pt idx="1">
                  <c:v>60000</c:v>
                </c:pt>
                <c:pt idx="2">
                  <c:v>100000</c:v>
                </c:pt>
                <c:pt idx="3">
                  <c:v>10094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加權簽約額(萬)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統包工程(EPC)</c:v>
                </c:pt>
                <c:pt idx="1">
                  <c:v>資產管理(建坤)</c:v>
                </c:pt>
                <c:pt idx="2">
                  <c:v>南區合計</c:v>
                </c:pt>
                <c:pt idx="3">
                  <c:v>維運(O&amp;M)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44220</c:v>
                </c:pt>
                <c:pt idx="1">
                  <c:v>65172</c:v>
                </c:pt>
                <c:pt idx="2">
                  <c:v>109392</c:v>
                </c:pt>
                <c:pt idx="3">
                  <c:v>10094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2027認列營收(萬)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統包工程(EPC)</c:v>
                </c:pt>
                <c:pt idx="1">
                  <c:v>資產管理(建坤)</c:v>
                </c:pt>
                <c:pt idx="2">
                  <c:v>南區合計</c:v>
                </c:pt>
                <c:pt idx="3">
                  <c:v>維運(O&amp;M)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46304</c:v>
                </c:pt>
                <c:pt idx="1">
                  <c:v>19216</c:v>
                </c:pt>
                <c:pt idx="2">
                  <c:v>65520</c:v>
                </c:pt>
                <c:pt idx="3">
                  <c:v>10094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統包工程(萬)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延續專案</c:v>
                </c:pt>
                <c:pt idx="1">
                  <c:v>勝率≥80%</c:v>
                </c:pt>
                <c:pt idx="2">
                  <c:v>勝率50~79%</c:v>
                </c:pt>
                <c:pt idx="3">
                  <c:v>勝率40~49%</c:v>
                </c:pt>
                <c:pt idx="4">
                  <c:v>勝率&lt;40%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6902</c:v>
                </c:pt>
                <c:pt idx="1">
                  <c:v>10355</c:v>
                </c:pt>
                <c:pt idx="2">
                  <c:v>12292</c:v>
                </c:pt>
                <c:pt idx="3">
                  <c:v>5479</c:v>
                </c:pt>
                <c:pt idx="4">
                  <c:v>11276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資產管理(萬)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延續專案</c:v>
                </c:pt>
                <c:pt idx="1">
                  <c:v>勝率≥80%</c:v>
                </c:pt>
                <c:pt idx="2">
                  <c:v>勝率50~79%</c:v>
                </c:pt>
                <c:pt idx="3">
                  <c:v>勝率40~49%</c:v>
                </c:pt>
                <c:pt idx="4">
                  <c:v>勝率&lt;40%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6745</c:v>
                </c:pt>
                <c:pt idx="2">
                  <c:v>0</c:v>
                </c:pt>
                <c:pt idx="3">
                  <c:v>11050</c:v>
                </c:pt>
                <c:pt idx="4">
                  <c:v>1421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延續專案(萬)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252</c:v>
                </c:pt>
                <c:pt idx="1">
                  <c:v>252</c:v>
                </c:pt>
                <c:pt idx="2">
                  <c:v>252</c:v>
                </c:pt>
                <c:pt idx="3">
                  <c:v>252</c:v>
                </c:pt>
                <c:pt idx="4">
                  <c:v>252</c:v>
                </c:pt>
                <c:pt idx="5">
                  <c:v>150</c:v>
                </c:pt>
                <c:pt idx="6">
                  <c:v>121</c:v>
                </c:pt>
                <c:pt idx="7">
                  <c:v>486</c:v>
                </c:pt>
                <c:pt idx="8">
                  <c:v>1251</c:v>
                </c:pt>
                <c:pt idx="9">
                  <c:v>1251</c:v>
                </c:pt>
                <c:pt idx="10">
                  <c:v>1251</c:v>
                </c:pt>
                <c:pt idx="11">
                  <c:v>1130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統包工程新案(萬)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1230</c:v>
                </c:pt>
                <c:pt idx="1">
                  <c:v>2839</c:v>
                </c:pt>
                <c:pt idx="2">
                  <c:v>3327</c:v>
                </c:pt>
                <c:pt idx="3">
                  <c:v>3623</c:v>
                </c:pt>
                <c:pt idx="4">
                  <c:v>3897</c:v>
                </c:pt>
                <c:pt idx="5">
                  <c:v>4478</c:v>
                </c:pt>
                <c:pt idx="6">
                  <c:v>5051</c:v>
                </c:pt>
                <c:pt idx="7">
                  <c:v>3270</c:v>
                </c:pt>
                <c:pt idx="8">
                  <c:v>3262</c:v>
                </c:pt>
                <c:pt idx="9">
                  <c:v>3352</c:v>
                </c:pt>
                <c:pt idx="10">
                  <c:v>2664</c:v>
                </c:pt>
                <c:pt idx="11">
                  <c:v>2409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資產管理新案(萬)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26</c:v>
                </c:pt>
                <c:pt idx="1">
                  <c:v>301</c:v>
                </c:pt>
                <c:pt idx="2">
                  <c:v>354</c:v>
                </c:pt>
                <c:pt idx="3">
                  <c:v>354</c:v>
                </c:pt>
                <c:pt idx="4">
                  <c:v>426</c:v>
                </c:pt>
                <c:pt idx="5">
                  <c:v>859</c:v>
                </c:pt>
                <c:pt idx="6">
                  <c:v>1131</c:v>
                </c:pt>
                <c:pt idx="7">
                  <c:v>1062</c:v>
                </c:pt>
                <c:pt idx="8">
                  <c:v>714</c:v>
                </c:pt>
                <c:pt idx="9">
                  <c:v>4785</c:v>
                </c:pt>
                <c:pt idx="10">
                  <c:v>4842</c:v>
                </c:pt>
                <c:pt idx="11">
                  <c:v>4361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JDE維運長約(萬)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 (修繕高峰)</c:v>
                </c:pt>
                <c:pt idx="3">
                  <c:v>Q4 (修繕高峰)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1055</c:v>
                </c:pt>
                <c:pt idx="1">
                  <c:v>1050</c:v>
                </c:pt>
                <c:pt idx="2">
                  <c:v>1013</c:v>
                </c:pt>
                <c:pt idx="3">
                  <c:v>993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新增維運與修繕機會(萬)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 (修繕高峰)</c:v>
                </c:pt>
                <c:pt idx="3">
                  <c:v>Q4 (修繕高峰)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442</c:v>
                </c:pt>
                <c:pt idx="1">
                  <c:v>739</c:v>
                </c:pt>
                <c:pt idx="2">
                  <c:v>2383</c:v>
                </c:pt>
                <c:pt idx="3">
                  <c:v>2419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 P.1 (0.5分鐘)】董事長、總經理好，今天進行 FY2027 南區與維運年度商業計畫報告，預計 15 分鐘。我們除了將第二版 3 份 Excel 數據完整轉為視覺化圖表與附錄外，更針對資產管理跨年缺口與維運佔位擬定了具體的 10 億達標行動方案。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 P.2 (2.0分鐘)】核心結論：若看乘勝率後的實質簽約額，南區已達 10.94 億元，超越 10 億目標！第二版預估認列 6.55 億，主因台糖兩大停車場設定在 2027/10 開工，導致 4.4 億跨年遞延至 2028 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 P.3 (1.5分鐘)】我們拆解漏斗發現，10.94 億簽約額中有 5.08 億因為開工晚而遞延到 2028 年。另外在 13 筆延續專案中，我們查出『12103003 台南學甲普登大坪頂案 (1,367.4萬)』因 JDE 缺起訖日未被勾選，補填後即可立即找回 1,367 萬確定營收。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 P.4 (1.5分鐘)】高確定性基盤已鎖定 2.4 億（36.6%）。決勝關鍵在於中間占 44% 的中確定性主力案（台糖雙案、日煙、中山微電網、中永峰），建議集中商務與技術資源專責攻堅。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 P.5 (2.0分鐘)】資產管理並非沒有案源，加權簽約額已達 6.52 億！只要將台糖雙案開工前移 3 個月，並在 2027/12 主設備進場節點認列設備交付款，單此一項就能追回 2.47 億營收。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 P.6 (1.5分鐘)】統包工程預估 4.63 億已超標。前十大案占 73%，我們將全力推進日煙 5MW 與大學微電網群，並用光儲聯賣激活東陽實業與高雄榮總兩大巨案。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 P.7 (1.5分鐘)】上方為 2027 年 1~12 月營收推估圖，下方為 50 案五大工程階段熱區。請注意 5 月與 8 月各有 10 案同時主設備進場，我們將在 Q1 啟動框架集採與工班鎖定，避免交期延誤。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 P.8 (1.5分鐘)】維運預算突破 1.01 億元、毛利 2,337 萬。其中 128 筆 JDE 長約（4,111萬）毛利率高達 35%，貢獻了超過六成的毛利，是公司最穩定的現金牛。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 P.9 (1.5分鐘)】針對維運機會中 3,750 萬的無具名佔位，我們已將其轉化為既有 128 案的 Inverter 延保換機與熱顯像健檢配額，並清查 JDE 8 筆零元合約追回高毛利續約。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 P.10 (2.0分鐘)】總結來說，透過台糖前移認列 (+2.47億)、EPC 主力攻堅 (+0.81億)、漏案補勾與維運併計 (+1.15億)，我們完全有信心衝破 10 億大關，同時在 2027 完成三大 AIDC 算力中心卡位。後面 4 頁為完整 Excel 數據附錄供董總備查。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10698480" cy="4754880"/>
          </a:xfrm>
          <a:prstGeom prst="roundRect">
            <a:avLst/>
          </a:prstGeom>
          <a:solidFill>
            <a:srgbClr val="102138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07007"/>
            <a:ext cx="10424159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Microsoft JhengHei"/>
              </a:defRPr>
            </a:pPr>
            <a:r>
              <a:t>ACMEPOINT ENERGY SERVICES (6692) ｜ EXECUTIVE BUSINESS PLAN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進金生能源服務(股)公司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FY2027 南區暨維運年度商業計畫與 10 億達標策略報告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報告對象：董事長、總經理（簡報時間：15 分鐘精華報告 ＋ 完整 Excel 數據附錄）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核心議題：(1) 南區 36.66 億商機漏斗與 6.55 億當期認列診斷  (2) 資產管理 4.08 億跨年缺口破局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            (3) 維運事業 1.01 億預算與毛利結構優化          (4) FY2028 AIDC 算力中心 10 億第二曲線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線上互動戰情室 (GitHub Pages + Supabase BaaS)：已同步部署上線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Microsoft JhengHei"/>
              </a:defRPr>
            </a:pPr>
            <a:r>
              <a:t>01 ｜ EXECUTIVE SUMMARY (時間配速：2.0 分鐘)</a:t>
            </a:r>
          </a:p>
          <a:p>
            <a:pPr>
              <a:defRPr sz="1800" b="1">
                <a:solidFill>
                  <a:srgbClr val="F8FAFC"/>
                </a:solidFill>
                <a:latin typeface="Microsoft JhengHei"/>
              </a:defRPr>
            </a:pPr>
            <a:r>
              <a:t>南區加權簽約額達 10.94 億（超越 10 億目標），惟受台糖雙案 Q4 開工影響，2027 當期認列為 6.55 億</a:t>
            </a:r>
          </a:p>
          <a:p>
            <a:pPr>
              <a:defRPr sz="1100">
                <a:solidFill>
                  <a:srgbClr val="94A3B8"/>
                </a:solidFill>
                <a:latin typeface="Microsoft JhengHei"/>
              </a:defRPr>
            </a:pPr>
            <a:r>
              <a:t>統包工程認列 4.63 億超標 115.8%；資產管理簽約 6.52 億達標但 4.59 億遞延至 2028；維運獨立貢獻 1.01 億營收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P.02 /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71323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280160"/>
                <a:gridCol w="1280160"/>
                <a:gridCol w="1371600"/>
              </a:tblGrid>
              <a:tr h="51206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業務類別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原訂目標(元)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勝率加權簽約額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2027認列預估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缺口 / 超出(元)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① 統包工程 (41案+6延續)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400,000,000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442,201,746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463,039,422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+63,039,422 (115.8%)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② 資產管理 (建坤 9案)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600,000,000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651,721,048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192,160,685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-407,839,315 (32.0%)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南區業務合計 (50案+6延續)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1,000,000,000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1,093,922,794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655,200,107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-344,799,893 (65.5%)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➕ 維運事業預算 (148筆)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獨立編列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100,936,186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100,936,186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毛利 29,345,209 (29.07%)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0" y="1371600"/>
          <a:ext cx="39319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160520"/>
            <a:ext cx="7132320" cy="2148840"/>
          </a:xfrm>
          <a:prstGeom prst="roundRect">
            <a:avLst/>
          </a:prstGeom>
          <a:solidFill>
            <a:srgbClr val="1021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270248"/>
            <a:ext cx="6858000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Microsoft JhengHei"/>
              </a:defRPr>
            </a:pPr>
            <a:r>
              <a:t>💡 三大業務成長引擎與第一版 (9.45億) vs 第二版 (6.55億) 差異核心說明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1. 簽約能量已超標：南區 50 案名目總額 36.66 億，乘勝率後加權簽約額達 10.94 億元（統包 4.42 億＋資管 6.52 億）。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2. 為何帳面認列降至 6.55 億？第二版改依「施工～竣工月數」分攤，台糖雙案 (加權 5.5 億) 因 2027/10 才開工，4.40 億遞延至 2028。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3. 三大業務定位：EPC (4億/高週轉現金流) ＋ 資產管理 (6億/建坤高毛利) ＋ FY28 AIDC 資料中心電力交付 (10億第二成長曲線)。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Microsoft JhengHei"/>
              </a:defRPr>
            </a:pPr>
            <a:r>
              <a:t>02 ｜ PIPELINE FUNNEL &amp; CARRYOVER DIAGNOSTIC (時間配速：1.5 分鐘)</a:t>
            </a:r>
          </a:p>
          <a:p>
            <a:pPr>
              <a:defRPr sz="1800" b="1">
                <a:solidFill>
                  <a:srgbClr val="F8FAFC"/>
                </a:solidFill>
                <a:latin typeface="Microsoft JhengHei"/>
              </a:defRPr>
            </a:pPr>
            <a:r>
              <a:t>名目機會 36.66 億折算為 10.94 億簽約額，其中 5.08 億遞延至 2028；另查獲 1,367 萬延續案漏勾可立即找回</a:t>
            </a:r>
          </a:p>
          <a:p>
            <a:pPr>
              <a:defRPr sz="1100">
                <a:solidFill>
                  <a:srgbClr val="94A3B8"/>
                </a:solidFill>
                <a:latin typeface="Microsoft JhengHei"/>
              </a:defRPr>
            </a:pPr>
            <a:r>
              <a:t>2027 新案當期認列 5.86 億 ＋ 已簽約延續專案 6 案挹注 0.69 億 ＝ 6.55 億（參考來源：機會簽約與營收推估_2027.xlsx）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P.03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4937760"/>
          </a:xfrm>
          <a:prstGeom prst="roundRect">
            <a:avLst/>
          </a:prstGeom>
          <a:solidFill>
            <a:srgbClr val="102138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81328"/>
            <a:ext cx="521208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Microsoft JhengHei"/>
              </a:defRPr>
            </a:pPr>
            <a:r>
              <a:t>🌪️ 南區 36.66 億商機漏斗轉化四階段拆解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STAGE 1｜CRM 名目機會總額 (50案未乘勝率)：3,665,885,239 元 (100%)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   - 統包工程 41 案 (20.80 億 / 54.3MW) ＋ 資產管理 9 案 (15.86 億 / 31.2MW)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STAGE 2｜乘勝率加權實質簽約金額 (50案)：1,093,922,794 元 (29.8%)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   - 2026年底前簽約 24 案 (2.79 億) ＋ 2027年內簽約 26 案 (8.15 億)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   - 加權簽約總毛利：135,943,908 元 (平均毛利率 12.43%)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STAGE 3｜依施工～完工月數跨年分攤：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   - ⚠️ 遞延至 2028 以後認列：507,733,656 元 (占簽約額 46.4%！)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   - ✅ 2027 新案當期認列：586,178,176 元 (占簽約額 53.6%)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STAGE 4｜加上延續專案 6 案認列 (+69,021,931 元)：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   - 🎯 FY2027 最終營收推估合計：655,200,107 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486400" cy="4937760"/>
          </a:xfrm>
          <a:prstGeom prst="roundRect">
            <a:avLst/>
          </a:prstGeom>
          <a:solidFill>
            <a:srgbClr val="10213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481328"/>
            <a:ext cx="521208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Microsoft JhengHei"/>
              </a:defRPr>
            </a:pPr>
            <a:r>
              <a:t>🔍 延續專案 13 案 (未認列 1.41 億) 拆解與「1,367 萬漏勾案」立即追回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截至 2026/09/30 未認列餘額：140,954,738 元（合約總額 4.34 億元）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① 2026 Q4 (10~12月) 預計工進消化 (6案)：58,258,387 元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   - 笨港二變儲能(1,843萬)、石龜國小微電網(1,435萬)、賽孚思(1,294萬)、東哥(871萬)等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② 2027 年度認列營收 (6案)：69,021,931 元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   - 安德順雲林(1,869萬)、安德順屏東(1,824萬)、奇景車棚(1,330萬)、正聚(1,192萬)、奇景幼稚園(514萬)、遠龍二期(173萬)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🚨 ③ 關鍵發現：未納入推估 1 案 (13,674,420 元)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   - 案名：12103003 南-台南-297.27kwp(學甲區魚塭五期)普登大坪頂太陽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   - 原因：JDE 缺預計專案起訖日且 BU 未勾選，導致系統算為 0 元！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   - ⚡ 立即行動：會後補填 JDE 起訖日並勾選，2027 即可無痛增加 +1,367.4 萬元營收！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Microsoft JhengHei"/>
              </a:defRPr>
            </a:pPr>
            <a:r>
              <a:t>03 ｜ WIN-RATE TIER &amp; HIGH-LEVERAGE TARGETS (時間配速：1.5 分鐘)</a:t>
            </a:r>
          </a:p>
          <a:p>
            <a:pPr>
              <a:defRPr sz="1800" b="1">
                <a:solidFill>
                  <a:srgbClr val="F8FAFC"/>
                </a:solidFill>
                <a:latin typeface="Microsoft JhengHei"/>
              </a:defRPr>
            </a:pPr>
            <a:r>
              <a:t>高確定性基盤（延續＋勝率≥80%）已鎖定 2.40 億（36.6%）；決勝關鍵在於 44.0% 的「中確定性主力案」</a:t>
            </a:r>
          </a:p>
          <a:p>
            <a:pPr>
              <a:defRPr sz="1100">
                <a:solidFill>
                  <a:srgbClr val="94A3B8"/>
                </a:solidFill>
                <a:latin typeface="Microsoft JhengHei"/>
              </a:defRPr>
            </a:pPr>
            <a:r>
              <a:t>成立總經理級專案攻堅小組鎖定「台糖雙案、日煙 5MW、中山微電網、中永峰」，勝率每拉升 20% 即可創造近億營收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P.04 /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6583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1463040"/>
                <a:gridCol w="1188720"/>
                <a:gridCol w="822960"/>
              </a:tblGrid>
              <a:tr h="41801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勝率確定性區間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統包工程(案數/金額)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資產管理(案數/金額)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2027營收合計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延續專案 (已簽約)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6案 / 69,021,931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0案 / 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69,021,931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10.5%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高確定性 (勝率 ≥ 80%)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8案 / 103,553,392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4案 / 67,448,323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171,001,715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26.1%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中確定性 (勝率 50~79%)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3案 / 122,919,857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0案 / 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122,919,857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18.8%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中確定性 (勝率 40~49%)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4案 / 54,789,002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2案 / 110,504,587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165,293,589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25.2%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低確定性長尾 (&lt; 40%)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26案 / 112,755,240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3案 / 14,207,775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126,963,015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19.4%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合計 (50案+6延續)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47案 / 463,039,422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9案 / 192,160,685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655,200,107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223760" y="1371600"/>
          <a:ext cx="448056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480560"/>
            <a:ext cx="11247120" cy="1828800"/>
          </a:xfrm>
          <a:prstGeom prst="roundRect">
            <a:avLst/>
          </a:prstGeom>
          <a:solidFill>
            <a:srgbClr val="10213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590288"/>
            <a:ext cx="10972800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Microsoft JhengHei"/>
              </a:defRPr>
            </a:pPr>
            <a:r>
              <a:t>🎯 業務資源聚焦策略：集中火力攻堅「5 大中確定性指標案」(占 2.88 億)，拒絕資源碎片化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鐵票基盤已穩：延續專案 + 勝率≥80%（丸紅東南實業彰化/台中、津谷、和富、三星螺絲、城鋒、桃苗、MERCK、禾豐）共 2.40 億元已高度鎖定。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五大必贏攻堅標的：(1) 台糖高雄大型車停車場 (10.45億/勝率40%)、(2) 台糖明正停車場 (3.3億/勝率40%)、(3) 日煙屋頂 5MW (1.75億/勝率60%)、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  (4) 中山大學微電網 (9,000萬/勝率40%)、(5) 中永峰路竹漁電 (4,019萬/勝率50%)。光將「日煙」與「中山微電網」提拉至 90% 勝率，當期營收即增 +8,100 萬！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Microsoft JhengHei"/>
              </a:defRPr>
            </a:pPr>
            <a:r>
              <a:t>04 ｜ ASSET MANAGEMENT (JIANKUN) 408M GAP RESOLUTION (時間配速：2.0 分鐘)</a:t>
            </a:r>
          </a:p>
          <a:p>
            <a:pPr>
              <a:defRPr sz="1800" b="1">
                <a:solidFill>
                  <a:srgbClr val="F8FAFC"/>
                </a:solidFill>
                <a:latin typeface="Microsoft JhengHei"/>
              </a:defRPr>
            </a:pPr>
            <a:r>
              <a:t>資產管理 9 案加權簽約達 6.52 億，透過「台糖雙案工期前移 3 個月＋主設備進場認列」可追回 2.47 億營收</a:t>
            </a:r>
          </a:p>
          <a:p>
            <a:pPr>
              <a:defRPr sz="1100">
                <a:solidFill>
                  <a:srgbClr val="94A3B8"/>
                </a:solidFill>
                <a:latin typeface="Microsoft JhengHei"/>
              </a:defRPr>
            </a:pPr>
            <a:r>
              <a:t>同步推進「埔美國際 3.3MW 轉高勝率」與「老舊電廠收購技改包」，徹底彌平 4.08 億跨年認列缺口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P.05 /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70408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640080"/>
                <a:gridCol w="548640"/>
                <a:gridCol w="1097280"/>
                <a:gridCol w="1097280"/>
                <a:gridCol w="731520"/>
                <a:gridCol w="1005840"/>
              </a:tblGrid>
              <a:tr h="44888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案件名稱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kWp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勝率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加權簽約額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2027認列預估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簽約月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預計施工~竣工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(建坤)台糖高雄大型車輛停車場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19,000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418,000,000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83,983,486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2027/10~2028/05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(建坤)台糖明正停車場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132,000,000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26,521,101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2027/10~2028/05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(建坤)津谷食品股份有限公司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849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26,137,188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26,137,188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2027/06~2027/11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(建坤)和富工業股份有限公司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435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17,626,005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17,626,005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2027/05~2027/08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(建坤)三星螺絲(馬稠後園區)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426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20,058,242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12,757,042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2027/10~2028/02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(建坤)城鋒新建廠房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211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10,928,088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10,928,088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2026/11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2027/01~2027/05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(建坤)埔美國際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3,300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23,100,000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9,336,250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2027/03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2027/09~2028/04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(建坤)潤泰精密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499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3,792,400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3,792,400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2027/02~2027/07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(建坤)台南麻豆倉庫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432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1,079,125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1,079,125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2027/03~2027/08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資產管理合計 (9案)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31,152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41.1%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651,721,048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192,160,685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跨年遞延 4.59 億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80960" y="1325880"/>
            <a:ext cx="4023360" cy="4937760"/>
          </a:xfrm>
          <a:prstGeom prst="roundRect">
            <a:avLst/>
          </a:prstGeom>
          <a:solidFill>
            <a:srgbClr val="1021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435607"/>
            <a:ext cx="374904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Microsoft JhengHei"/>
              </a:defRPr>
            </a:pPr>
            <a:r>
              <a:t>🚀 彌平 4.08 億缺口三大破局行動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【問題根因】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台糖雙案名目 13.75 億、加權簽約 5.5 億，因設定 2027/10 開工、2028/05 竣工，導致 2027 僅認列 20.09% (1.105 億)，4.395 億落入 2028 年！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【對策 1：時程前移 3 個月＋主設備進場認列】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2026 Q4 預審結構與台電併網，簽約由 5 月提早至 3 月、開工提早至 7 月。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依表定 2027/12「主設備進場」，於設備交貨驗收節點認列 45% 進度並將勝率提至 60%，當期即多認列 +2.47 億元！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【對策 2：埔美國際 (3.3MW) 提早開工】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總額 1.155 億，勝率由 20% 提至 60% 並於 Q2 開工，再增 +4,500 萬。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【對策 3：新增二手電廠收購/老舊技改包】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落實策略簡報之「電廠收購」，收購 3~5MW 既有案場整改，貢獻 +1.2 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Microsoft JhengHei"/>
              </a:defRPr>
            </a:pPr>
            <a:r>
              <a:t>05 ｜ EPC TURNKEY TOP 10 &amp; PRODUCT MIX UPGRADE (時間配速：1.5 分鐘)</a:t>
            </a:r>
          </a:p>
          <a:p>
            <a:pPr>
              <a:defRPr sz="1800" b="1">
                <a:solidFill>
                  <a:srgbClr val="F8FAFC"/>
                </a:solidFill>
                <a:latin typeface="Microsoft JhengHei"/>
              </a:defRPr>
            </a:pPr>
            <a:r>
              <a:t>統包工程預估 4.63 億（超標 115.8%），前 10 大案占 73%，轉型為「光＋儲＋微電網」高週轉組合</a:t>
            </a:r>
          </a:p>
          <a:p>
            <a:pPr>
              <a:defRPr sz="1100">
                <a:solidFill>
                  <a:srgbClr val="94A3B8"/>
                </a:solidFill>
                <a:latin typeface="Microsoft JhengHei"/>
              </a:defRPr>
            </a:pPr>
            <a:r>
              <a:t>複製中山與石龜國小微電網經驗至校園群，並以「用電大戶光儲聯賣」激活東陽實業 (9.6MW) 與高雄榮總儲能巨案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P.06 /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70408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731520"/>
                <a:gridCol w="822960"/>
                <a:gridCol w="640080"/>
                <a:gridCol w="128016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案件名稱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類型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容量(kWp)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勝率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加權簽約額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2027認列預估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日煙 (屋頂)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105,000,000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90,642,857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微電網_中山大學微電網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微電網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36,000,000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36,000,000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微電網_防災型一批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微電網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35,000,000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35,000,000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東南實業_彰化廠 (丸紅)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805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31,395,195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31,395,195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中永峰 (路竹淡水漁電室內養殖)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1,436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20,097,000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20,097,000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東南實業_台中廠 (丸紅)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442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17,233,515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17,233,515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桃苗中壢廠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地面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436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16,934,648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16,934,648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東陽實業 (新市)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9,600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16,800,000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16,800,000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翔展精密 (順順展既有廠)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580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12,180,000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12,180,000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表後儲-高雄榮民總醫院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儲能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1,500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15,000,000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11,918,919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前 10 大合計 (占 EPC 新案 73.1%)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32,799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305,640,358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288,202,134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80960" y="1325880"/>
            <a:ext cx="4023360" cy="4937760"/>
          </a:xfrm>
          <a:prstGeom prst="roundRect">
            <a:avLst/>
          </a:prstGeom>
          <a:solidFill>
            <a:srgbClr val="102138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435607"/>
            <a:ext cx="374904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Microsoft JhengHei"/>
              </a:defRPr>
            </a:pPr>
            <a:r>
              <a:t>⚡ 統包工程衝刺 5.8 億三大戰術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【產品組合結構 (41案 / 54.3MW)】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屋頂型光電 (26案)：2.46 億元 (62.5%)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大學與防災微電網 (5案)：0.81 億元 (20.5%)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地面與農漁電 (5案)：0.30 億元 (7.7%)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錶後儲能與水面整改 (5案)：0.37 億元 (9.3%)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【戰術 1：校園與防災微電網模組化複製】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結合石龜國小微電網實績，打包攻下中山(3MW)、高科(1.5MW)、嘉大(1MW)、宜大(1.5MW)，毛利率由 10% 提至 13.5%。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【戰術 2：光儲聯賣激活 5% 勝率巨案】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東陽實業 (3.36億) 與高榮儲能 (3.0億) 目前勝率僅估 5%，導入用電大戶削峰填谷試算，突破一案即增 +7,500 萬！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Microsoft JhengHei"/>
              </a:defRPr>
            </a:pPr>
            <a:r>
              <a:t>06 ｜ 2027 MONTHLY REVENUE PACING &amp; MILESTONE BOTTLENECKS (時間配速：1.5 分鐘)</a:t>
            </a:r>
          </a:p>
          <a:p>
            <a:pPr>
              <a:defRPr sz="1800" b="1">
                <a:solidFill>
                  <a:srgbClr val="F8FAFC"/>
                </a:solidFill>
                <a:latin typeface="Microsoft JhengHei"/>
              </a:defRPr>
            </a:pPr>
            <a:r>
              <a:t>2027 營收呈「前低後高、Q4 單季衝上 2.60 億」，須提前化解「3月簽約、5月與8月主設備進場」三大洪峰</a:t>
            </a:r>
          </a:p>
          <a:p>
            <a:pPr>
              <a:defRPr sz="1100">
                <a:solidFill>
                  <a:srgbClr val="94A3B8"/>
                </a:solidFill>
                <a:latin typeface="Microsoft JhengHei"/>
              </a:defRPr>
            </a:pPr>
            <a:r>
              <a:t>50 案共 195 個工程節點高度集中於 5 月與 8 月設備進場（各 10 案），Q1 啟動變壓器與模組框架集採鎖定交期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P.07 / 14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29768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2945"/>
                <a:gridCol w="702945"/>
                <a:gridCol w="702945"/>
                <a:gridCol w="702945"/>
                <a:gridCol w="702945"/>
                <a:gridCol w="702945"/>
                <a:gridCol w="702945"/>
                <a:gridCol w="702945"/>
                <a:gridCol w="702945"/>
                <a:gridCol w="702945"/>
                <a:gridCol w="702945"/>
                <a:gridCol w="702945"/>
                <a:gridCol w="702945"/>
                <a:gridCol w="702945"/>
                <a:gridCol w="702945"/>
                <a:gridCol w="702945"/>
              </a:tblGrid>
              <a:tr h="3352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工程階段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26前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1月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2月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3月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4月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5月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6月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7月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8月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9月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10月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11月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12月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27合計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28後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① 簽約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 (洪峰)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② 同意備案/施工許可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 (洪峰)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③ 主設備進場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 (洪峰)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 (洪峰)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④ 併聯掛錶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 (洪峰)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⑤ 竣工驗收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 (洪峰)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Microsoft JhengHei"/>
              </a:defRPr>
            </a:pPr>
            <a:r>
              <a:t>07 ｜ O&amp;M BUDGET OVERVIEW &amp; RECURRING MARGIN BASE (時間配速：1.5 分鐘)</a:t>
            </a:r>
          </a:p>
          <a:p>
            <a:pPr>
              <a:defRPr sz="1800" b="1">
                <a:solidFill>
                  <a:srgbClr val="F8FAFC"/>
                </a:solidFill>
                <a:latin typeface="Microsoft JhengHei"/>
              </a:defRPr>
            </a:pPr>
            <a:r>
              <a:t>維運事業 2027 預算突破 1.01 億元（毛利 2,935 萬 / 毛利率 29.07%），長約與新商機雙引擎各貢獻約 50% 毛利</a:t>
            </a:r>
          </a:p>
          <a:p>
            <a:pPr>
              <a:defRPr sz="1100">
                <a:solidFill>
                  <a:srgbClr val="94A3B8"/>
                </a:solidFill>
                <a:latin typeface="Microsoft JhengHei"/>
              </a:defRPr>
            </a:pPr>
            <a:r>
              <a:t>JDE 已簽長約 4,111 萬（毛利率 35.0% / 毛利 1,439 萬）＋ 新增維運與修繕機會 5,982 萬（毛利率 25.0% / 毛利 1,496 萬）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P.08 /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62179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274"/>
                <a:gridCol w="888274"/>
                <a:gridCol w="888274"/>
                <a:gridCol w="888274"/>
                <a:gridCol w="888274"/>
                <a:gridCol w="888274"/>
                <a:gridCol w="888276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預算類別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筆數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2027營收(元)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占營收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2027毛利(元)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毛利率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占毛利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① JDE 維運長約基盤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128 筆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41,111,249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40.7%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14,388,952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35.0%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49.0%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② 新增維運與修繕機會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 筆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59,824,937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59.3%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14,956,257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51.0%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維運年度預算總計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148 筆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100,936,186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29,345,209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29.07%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200400"/>
          <a:ext cx="6217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584"/>
                <a:gridCol w="1243584"/>
                <a:gridCol w="1243584"/>
                <a:gridCol w="1243584"/>
                <a:gridCol w="1243584"/>
              </a:tblGrid>
              <a:tr h="40233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季度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營收合計(元)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毛利合計(元)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綜合毛利率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機會預估占比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Q1 第一季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14,965,468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4,796,111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32.05%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29.5% (長約護盤)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Q2 第二季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17,887,955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5,522,157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30.87%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41.3% (外來案爬升)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Q3 第三季 (颱風修繕高峰)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33,960,390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9,502,936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27.98%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70.2% (災後修繕集中)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Q4 第四季 (颱風修繕高峰)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34,122,373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9,524,005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27.91%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70.9% (災後修繕集中)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1325880"/>
          <a:ext cx="48463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005840"/>
                <a:gridCol w="822960"/>
              </a:tblGrid>
              <a:tr h="4038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前十大 JDE 維運長約名稱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2027營收(元)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占長約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1. 台南戶外型漁電維運 PROJECT AMEI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7,263,804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17.7%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2. 西彰化 4986KWP 彰化大城永堯能源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3,554,796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8.6%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3. 南高雄 4999KWP 五甲尾滯洪池(中租電力)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2,509,944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6.1%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4. 群創光電路科 FAB8 (13,832KWP)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1,802,520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4.4%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5. 北新竹 1987KWP 新日光系統開發(82)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1,172,448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2.9%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6. 北新竹 1814KWP 新日光系統開發(71)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1,070,496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2.6%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7. 中台中 2802KWP 雲豹中科矽品(旭孝電力)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980,880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2.4%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8. 群創光電南科 FAB5 (4,293KWP)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944,952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2.3%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9. 中彰化 1628KWP 美傢家具鹿港廠(中租)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791,772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1.9%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10. 北桃園 1943KWP 世聯倉運(中租迪和)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783,042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1.9%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前十大維運合約合計 (占 JDE 合約 50.8%)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20,874,654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50.8%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Microsoft JhengHei"/>
              </a:defRPr>
            </a:pPr>
            <a:r>
              <a:t>08 ｜ O&amp;M OPPORTUNITY BREAKDOWN &amp; MARGIN OPTIMIZATION (時間配速：1.5 分鐘)</a:t>
            </a:r>
          </a:p>
          <a:p>
            <a:pPr>
              <a:defRPr sz="1800" b="1">
                <a:solidFill>
                  <a:srgbClr val="F8FAFC"/>
                </a:solidFill>
                <a:latin typeface="Microsoft JhengHei"/>
              </a:defRPr>
            </a:pPr>
            <a:r>
              <a:t>維運商機 5,982 萬中「預估佔位 3,750 萬（62.7%）」將綁定既有 128 案技改配額落地，並優化毛利率至 22%+</a:t>
            </a:r>
          </a:p>
          <a:p>
            <a:pPr>
              <a:defRPr sz="1100">
                <a:solidFill>
                  <a:srgbClr val="94A3B8"/>
                </a:solidFill>
                <a:latin typeface="Microsoft JhengHei"/>
              </a:defRPr>
            </a:pPr>
            <a:r>
              <a:t>鎖定旭忠水上型修繕 (1,389萬) 與 BP/國泰/永鑫外來轉單案；同步清查 JDE 8 筆零元合約找回高毛利續約金流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P.09 / 14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53035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43600" y="1371600"/>
            <a:ext cx="5760720" cy="4846320"/>
          </a:xfrm>
          <a:prstGeom prst="roundRect">
            <a:avLst/>
          </a:prstGeom>
          <a:solidFill>
            <a:srgbClr val="10213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0" y="1481328"/>
            <a:ext cx="5486400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Microsoft JhengHei"/>
              </a:defRPr>
            </a:pPr>
            <a:r>
              <a:t>🎯 維運 5,982 萬商機拆解與「3,750萬佔位」三大落地抓手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結構拆解：① 預估佔位 4 筆 (3,750萬 / 62.7%) ＋ ② 旭忠水上型修繕專案 1 筆 (1,389萬 / 23.2%) ＋ ③ 具名外來維運 15 筆 (843萬 / 14.1%)。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抓手 1｜將 2,750 萬「服務升級與修繕佔位」轉為既有 128 案技改配額：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   - 針對運轉逾 5 年案場推行「Inverter 延保換機、水面浮筒加固、無人機熱顯像健檢與清洗升級包」，責任配額到每位維運工程師。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抓手 2｜1,000 萬「外來案佔位」直接對接大型孤兒案場轉單：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   - 鎖定 BP 學甲漁電 39MW (298萬)、國泰外來案 20MW (250萬)、永鑫 27MW (99萬)、奇美綠園道 15.3MW (91萬) 擴大代操範圍。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抓手 3｜清查 JDE 8 筆「金額為 0」之異常合約，並拉升新案毛利率：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   - 追回台糖嘉義貴舍/荷包嶼、特力屋等 8 筆零元合約續約 (+300~500萬)，並將外來代操毛利率由 15% 調回 22%~25%，總毛利可增 +410 萬！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Microsoft JhengHei"/>
              </a:defRPr>
            </a:pPr>
            <a:r>
              <a:t>09 ｜ FY2028 AIDC SECOND CURVE &amp; BRIDGE TO 1.0 BILLION (時間配速：2.0 分鐘)</a:t>
            </a:r>
          </a:p>
          <a:p>
            <a:pPr>
              <a:defRPr sz="1800" b="1">
                <a:solidFill>
                  <a:srgbClr val="F8FAFC"/>
                </a:solidFill>
                <a:latin typeface="Microsoft JhengHei"/>
              </a:defRPr>
            </a:pPr>
            <a:r>
              <a:t>FY2027 透過四大槓桿衝刺 10 億達標；同步卡位麻豆 100MW、桃園 10MW、嘉惠 10MW 算力中心電力統包</a:t>
            </a:r>
          </a:p>
          <a:p>
            <a:pPr>
              <a:defRPr sz="1100">
                <a:solidFill>
                  <a:srgbClr val="94A3B8"/>
                </a:solidFill>
                <a:latin typeface="Microsoft JhengHei"/>
              </a:defRPr>
            </a:pPr>
            <a:r>
              <a:t>提請董總裁示：(1) 跨年大案採簽約與設備進場雙軌考核；(2) 核准台糖/日煙前置設計費；(3) 成立 AIDC 電力交付小組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P.10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102138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81328"/>
            <a:ext cx="5212080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Microsoft JhengHei"/>
              </a:defRPr>
            </a:pPr>
            <a:r>
              <a:t>🖥️ 中長期佈局：FY2028 資料中心 (AIDC) 電力交付 (加權目標 10 億)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戰略定位：進能服由「光電 EPC」升級為「AIDC 電力交付端統包商」，承接 161kV 特高壓變電站、灰區 (Gray Space) 不斷電備援與綠電微電網。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① 100MW 算力中心（台南麻豆）：名目 30 億 × 20% 勝率 ＝ 加權 6.0 億元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   - 南台灣最大算力基地，2027 完成台電特高壓系統衝擊分析與電力設計綁規。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② 10MW 算力中心（北部桃園）：名目 10 億 × 20% 勝率 ＝ 加權 2.0 億元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   - 2027 提前卡位北部 AI 機房聚落，建立跨區域灰區不斷電交付能力。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③ 10MW 算力中心（嘉義嘉惠）：名目 10 億 × 20% 勝率 ＝ 加權 2.0 億元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   - 結合嘉惠電力既有維運與一期整改客情，與麻豆案形成南部雙核布局。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1021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481328"/>
            <a:ext cx="5212080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Microsoft JhengHei"/>
              </a:defRPr>
            </a:pPr>
            <a:r>
              <a:t>🌉 FY2027 邁向 10 億達標路線圖 (Bridge to 1B) 與請董總裁示事項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基準線 (Baseline)：南區 2027 目前工進預估 6.55 億元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➕ 槓桿 1 (台糖雙案前移3個月+設備進場認列45%+勝率60%)：+2.47 億元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➕ 槓桿 2 (日煙 5MW 與微電網群勝率攻堅至 85%)：+0.81 億元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➕ 槓桿 3 (補勾普登大坪頂漏計案 +0.14億 ＋ 維運預算 +1.01億)：+1.15 億元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• 🎯 優化後全事業預估總營收：9.97 億 ～ 10.98 億元 (全面突破 10 億目標！)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【提請董總核決事項 (Executive Ask)】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1. 考核口徑：核准跨年大案採「簽約額(40%)＋當期工進認列(60%)」或於 2027/12 主設備進場節點認列 45%+ 營收。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Microsoft JhengHei"/>
              </a:defRPr>
            </a:pPr>
            <a:r>
              <a:t>2. 前置資源：核准 2026 Q4 投入 150 萬前置結構與台電審查費，換取台糖工期前移 3 個月。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Microsoft JhengHei"/>
              </a:defRPr>
            </a:pPr>
            <a:r>
              <a:t>APPENDIX A-1 ｜ EXCEL FULL DATA BACKUP (南區業務機會明細 Part 1：第 1~25 案，依加權簽約額排序)</a:t>
            </a:r>
          </a:p>
          <a:p>
            <a:pPr>
              <a:defRPr sz="1800" b="1">
                <a:solidFill>
                  <a:srgbClr val="F8FAFC"/>
                </a:solidFill>
                <a:latin typeface="Microsoft JhengHei"/>
              </a:defRPr>
            </a:pPr>
            <a:r>
              <a:t>資料附錄 A-1：南區業務機會與階段里程碑全表 (Top 1 ~ 25)</a:t>
            </a:r>
          </a:p>
          <a:p>
            <a:pPr>
              <a:defRPr sz="1100">
                <a:solidFill>
                  <a:srgbClr val="94A3B8"/>
                </a:solidFill>
                <a:latin typeface="Microsoft JhengHei"/>
              </a:defRPr>
            </a:pPr>
            <a:r>
              <a:t>完整對應《BU機會與階段年月_南區_2027.xlsx》與《機會簽約與營收推估_2027.xlsx》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P.11 /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06984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731520"/>
                <a:gridCol w="2286000"/>
                <a:gridCol w="640080"/>
                <a:gridCol w="731520"/>
                <a:gridCol w="1188720"/>
                <a:gridCol w="548640"/>
                <a:gridCol w="1188720"/>
                <a:gridCol w="1188720"/>
                <a:gridCol w="1188720"/>
              </a:tblGrid>
              <a:tr h="203981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# / 序號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類別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案件名稱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類型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kWp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機會總額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勝率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加權簽約額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2027認列營收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簽約~竣工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1. S-03449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資產管理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(建坤)台糖停車場(高雄大型車輛停車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地面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19,000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1,045,000,000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418,000,000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83,983,486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2027/05~2028/05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2. S-03575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資產管理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(建坤)台糖明正停車場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地面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330,000,000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132,000,000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26,521,101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2027/05~2028/05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3. S-04153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日煙(屋頂)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175,000,000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105,000,000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90,642,857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2027/03~2027/12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4. S-03355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微電網_中山大學微電網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微電網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90,000,000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36,000,000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36,000,000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2026/12~2027/07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5. S-04095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微電網_防災型一批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微電網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350,000,000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35,000,000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35,000,000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2026/12~2027/07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6. S-03007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東南實業_彰化廠(丸紅)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805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31,395,195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31,395,195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31,395,195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2026/11~2027/05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7. S-03551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資產管理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(建坤)津谷食品股份有限公司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849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26,137,188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26,137,188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26,137,188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2026/10~2027/11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8. S-04156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資產管理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(建坤)埔美國際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3,300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115,500,000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23,100,000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9,336,250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2027/03~2028/04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9. S-01945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中永峰(路竹淡水漁電室內養殖場)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1,436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40,194,000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20,097,000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20,097,000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2027/03~2027/12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10. S-04164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資產管理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(建坤)三星螺絲成型機有限公司(馬稠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426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20,058,242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20,058,242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12,757,042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2026/11~2028/02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11. S-03995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資產管理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(建坤)和富工業股份有限公司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435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17,626,005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17,626,005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17,626,005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2026/10~2027/08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12. S-03009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東南實業_台中廠(丸紅)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442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17,233,515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17,233,515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17,233,515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2026/11~2027/05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13. S-03912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桃苗中壢廠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地面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436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21,168,310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16,934,648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16,934,648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2026/12~2027/07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14. S-02421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東陽實業(新市)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9,600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336,000,000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16,800,000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16,800,000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2027/03~2027/10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15. S-04166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表後儲-高雄榮民總醫院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儲能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1,500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300,000,000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15,000,000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11,918,919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2027/06~2028/02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16. O-01030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東和(特力屋)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1,999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69,978,300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13,995,660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9,597,024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2027/04~2027/12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17. S-03976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翔展精密(順順展既有廠)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580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20,300,000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12,180,000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12,180,000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2026/12~2027/07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18. S-03392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MERCK 新廠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434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14,604,100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11,683,280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11,683,280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2027/02~2027/10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19. S-03321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資產管理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(建坤)城鋒新建廠房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211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10,928,088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10,928,088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10,928,088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2026/11~2027/05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20. S-03265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禾豐牧場1-1期(整新)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452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13,569,600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10,855,680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10,855,680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2027/03~2027/09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21. S-04205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東南實業(廠房附屬工程)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銷售單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13,377,790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10,702,232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10,702,232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2026/11~2027/02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22. S-03805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申豐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地面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1,506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52,712,450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10,542,490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4,255,332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2027/01~2028/04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23. S-04043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國泰 8-13 埤塘光電整改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水面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1,878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46,950,000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9,390,000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9,390,000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2026/11~2027/07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24. S-03285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禾豐牧場1-2期(新設)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648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21,626,035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8,650,414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8,650,414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2027/03~2027/11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03995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25. S-01902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穩懋半導體(晶圓C廠-新廠)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地面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8,139,940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6,511,952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4,558,366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2026/12~2028/01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Microsoft JhengHei"/>
              </a:defRPr>
            </a:pPr>
            <a:r>
              <a:t>APPENDIX A-2 ｜ EXCEL FULL DATA BACKUP (南區業務機會明細 Part 2：第 26~50 案，依加權簽約額排序)</a:t>
            </a:r>
          </a:p>
          <a:p>
            <a:pPr>
              <a:defRPr sz="1800" b="1">
                <a:solidFill>
                  <a:srgbClr val="F8FAFC"/>
                </a:solidFill>
                <a:latin typeface="Microsoft JhengHei"/>
              </a:defRPr>
            </a:pPr>
            <a:r>
              <a:t>資料附錄 A-2：南區業務機會與階段里程碑全表 (Top 26 ~ 50 暨 50 案總計)</a:t>
            </a:r>
          </a:p>
          <a:p>
            <a:pPr>
              <a:defRPr sz="1100">
                <a:solidFill>
                  <a:srgbClr val="94A3B8"/>
                </a:solidFill>
                <a:latin typeface="Microsoft JhengHei"/>
              </a:defRPr>
            </a:pPr>
            <a:r>
              <a:t>50 案合計：名目總額 3,665,885,239 元 ｜ 加權簽約額 1,093,922,794 元 ｜ 2027 認列推估 586,178,176 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P.12 /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06984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731520"/>
                <a:gridCol w="2286000"/>
                <a:gridCol w="640080"/>
                <a:gridCol w="731520"/>
                <a:gridCol w="1188720"/>
                <a:gridCol w="548640"/>
                <a:gridCol w="1188720"/>
                <a:gridCol w="1188720"/>
                <a:gridCol w="1188720"/>
              </a:tblGrid>
              <a:tr h="203981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# / 序號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類別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案件名稱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類型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kWp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機會總額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勝率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加權簽約額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2027認列營收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簽約~竣工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26. S-03892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永祺車業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403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15,303,550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6,121,420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4,187,051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2026/11~2028/01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27. S-03959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特嘉食品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499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14,878,842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5,951,537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5,951,537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2026/11~2027/07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28. S-01963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康百國際食品股份有限公司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45,600,000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4,560,000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38,000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2027/06~2028/06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29. S-04012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微電網_高科大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微電網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1,500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45,000,000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4,500,000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4,500,000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2027/04~2027/11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30. S-04116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資產管理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(建坤)潤泰精密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499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18,962,000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3,792,400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3,792,400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2026/12~2027/07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31. S-04180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台電再生能源處台南公學地面型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地面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677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18,899,436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3,779,887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3,779,887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2026/11~2027/08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32. S-03341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台懋(禾懋)廠房租賃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875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30,625,000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3,062,500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34,028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2027/06~2028/06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33. S-04010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微電網_嘉義大學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微電網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30,000,000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2027/04~2027/11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34. S-04020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資正電子(馬稠後)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360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13,680,000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2,736,000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2,736,000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2026/12~2027/12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35. S-04008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微電網_宜蘭大學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微電網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1,500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45,000,000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2,250,000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2,250,000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2027/04~2027/11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36. S-03991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順順展科技(新建廠)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312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10,902,500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2,180,500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2,180,500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2027/02~2027/10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37. S-04081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嘉惠電力一期整改+三期新建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2026/12~2027/07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38. S-03726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智強科技精密股份有限公司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499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18,962,000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1,896,200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1,896,200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2026/12~2027/08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39. S-03613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英屬開曼群島商協駿股份有限公司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499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18,962,000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1,896,200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15,802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2027/06~2028/06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40. S-03627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常榮機械股份有限公司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499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17,465,000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1,746,500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14,554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2027/06~2028/06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41. S-03629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友齊有限公司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499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17,465,000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1,746,500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14,554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2027/03~2028/06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42. S-03632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貴族世家企業股份有限公司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499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17,465,000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1,746,500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14,554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2027/03~2028/06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43. S-04037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天守實業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28,800,000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1,440,000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987,429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2026/12~2028/02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44. S-04093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資產管理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(建坤)台南麻豆倉庫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432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21,582,500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1,079,125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1,079,125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2027/01~2027/08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45. S-04151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聯仕電子大寮廠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地面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292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16,054,500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802,725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802,725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2027/01~2027/09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46. S-03985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(國泰整新)遠東鋼鐵一~三期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1,482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3,288,677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657,735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646,773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2026/11~2027/04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47. S-03914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BTM_環泥阿蓮廠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儲能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517,959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2027/03~2027/12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48. S-04159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均霈光學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屋頂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7,200,000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360,000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360,000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2027/01~2027/07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49. S-04131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正聚(台電申請)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銷售單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190,476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190,476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190,476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2026/10~2027/10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03995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50. S-04003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統包工程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順順展科技(ATMOCE)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儲能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2026/12~2027/03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Microsoft JhengHei"/>
              </a:defRPr>
            </a:pPr>
            <a:r>
              <a:t>APPENDIX B ｜ EXCEL FULL DATA BACKUP (延續專案 13 筆未認列明細表)</a:t>
            </a:r>
          </a:p>
          <a:p>
            <a:pPr>
              <a:defRPr sz="1800" b="1">
                <a:solidFill>
                  <a:srgbClr val="F8FAFC"/>
                </a:solidFill>
                <a:latin typeface="Microsoft JhengHei"/>
              </a:defRPr>
            </a:pPr>
            <a:r>
              <a:t>資料附錄 B：延續專案未認列與 2026 Q4 / 2027 工進認列全表 (共 13 案)</a:t>
            </a:r>
          </a:p>
          <a:p>
            <a:pPr>
              <a:defRPr sz="1100">
                <a:solidFill>
                  <a:srgbClr val="94A3B8"/>
                </a:solidFill>
                <a:latin typeface="Microsoft JhengHei"/>
              </a:defRPr>
            </a:pPr>
            <a:r>
              <a:t>完整對應《機會簽約與營收推估_2027.xlsx》R49~R64（含 12103003 普登大坪頂未納入說明）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P.13 /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834640"/>
                <a:gridCol w="1188720"/>
                <a:gridCol w="1188720"/>
                <a:gridCol w="1188720"/>
                <a:gridCol w="1188720"/>
                <a:gridCol w="1463040"/>
                <a:gridCol w="1371600"/>
              </a:tblGrid>
              <a:tr h="341376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專案代碼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專案名稱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合約金額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至26/09未認列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26 Q4預計工進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2027認列推估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起訖期間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預算狀態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12500077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西-雲林-499.9950Kwp安德順企業股份有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18,694,813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18,694,813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18,694,813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2027/09/01~2027/12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納入2027預算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12400019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北-桃園-2500Kwp(笨港二變儲能)台灣電力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154,794,286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18,425,148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18,425,148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2024/04/30~2025/12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2026Q4認列完畢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12500078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南-屏東-499.9950Kwp安德順企業股份有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18,239,818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18,239,818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18,239,818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2027/08/30~2027/12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納入2027預算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12600060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石龜國小微電網(0.6MW/1.2MWH)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21,333,333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14,353,657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14,353,657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2026/07/31~2027/01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2026Q4認列完畢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12103003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南-台南-297.27kwp(學甲區魚塭五期)普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13,674,420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13,674,420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~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未納入(缺起訖日)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12400018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(總部車棚地面型)奇景光電股份有限公司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13,300,000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13,300,000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13,300,000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2026/11/02~2027/11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納入2027預算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12400106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(JADE廠)台灣賽孚思科技股份有限公司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33,867,460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12,944,487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12,944,487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2026/01/03~2026/05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2026Q4認列完畢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12600069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南-台南-400.0550Kwp正聚實業股份有限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11,921,639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11,921,639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11,921,639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2027/09/01~2027/12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納入2027預算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12312097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(金福新廠)東哥企業股份有限公司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49,017,395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8,708,912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8,708,912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2025/08/11~2025/11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2026Q4認列完畢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12312092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(幼稚園屋頂型)奇景光電股份有限公司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5,350,000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5,350,000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214,000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5,136,000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2026/12/30~2027/05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納入2027預算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12400114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(仁德廠)彩邦界金屬表面處理股份有限公司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9,610,714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2,293,066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2,293,066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2026/06/26~2026/09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2026Q4認列完畢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12307017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南-高雄-1364.07Kwp(遠龍屋頂二期)旭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38,270,589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1,729,661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1,729,661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2024/05/31~2027/06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納入2027預算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12500069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(高振-工程)建坤能源股份有限公司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45,837,225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1,319,117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1,319,117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2026/01/03~2026/07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2026Q4認列完畢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合計(13案)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延續專案總計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433,911,692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140,954,738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58,258,387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69,021,931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未納入 13,674,420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91440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Microsoft JhengHei"/>
              </a:defRPr>
            </a:pPr>
            <a:r>
              <a:t>APPENDIX C ｜ EXCEL FULL DATA BACKUP (維運機會預估 20 筆完整明細表)</a:t>
            </a:r>
          </a:p>
          <a:p>
            <a:pPr>
              <a:defRPr sz="1800" b="1">
                <a:solidFill>
                  <a:srgbClr val="F8FAFC"/>
                </a:solidFill>
                <a:latin typeface="Microsoft JhengHei"/>
              </a:defRPr>
            </a:pPr>
            <a:r>
              <a:t>資料附錄 C：FY2027 維運新增商機與修繕專案明細表 (共 20 筆 / 59,824,937 元)</a:t>
            </a:r>
          </a:p>
          <a:p>
            <a:pPr>
              <a:defRPr sz="1100">
                <a:solidFill>
                  <a:srgbClr val="94A3B8"/>
                </a:solidFill>
                <a:latin typeface="Microsoft JhengHei"/>
              </a:defRPr>
            </a:pPr>
            <a:r>
              <a:t>完整對應《維運預算_2027.xlsx》R16~R39（另 128 筆 JDE 合約全表收錄於線上戰情室附錄 D）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P.14 /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468880"/>
                <a:gridCol w="1371600"/>
                <a:gridCol w="640080"/>
                <a:gridCol w="914400"/>
                <a:gridCol w="914400"/>
                <a:gridCol w="914400"/>
                <a:gridCol w="914400"/>
                <a:gridCol w="1188720"/>
                <a:gridCol w="1188720"/>
              </a:tblGrid>
              <a:tr h="241069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分類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機會名稱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序號與勝率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毛利率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Q1營收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Q2營收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Q3營收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Q4營收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2027預計執行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38BDF8"/>
                          </a:solidFill>
                          <a:latin typeface="Microsoft JhengHei"/>
                        </a:defRPr>
                      </a:pPr>
                      <a:r>
                        <a:t>2027預估毛利</a:t>
                      </a:r>
                    </a:p>
                  </a:txBody>
                  <a:tcPr>
                    <a:solidFill>
                      <a:srgbClr val="193456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具名維運機會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維運_信全冬粉廠_屋頂型_231.44KW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S-03156    · 勝率 100%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24,879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24,879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24,879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24,879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99,516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24,876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具名維運機會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維運_智崴資訊(橋科)_屋頂型346.655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S-03961    · 勝率 100%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24,000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具名維運機會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欣銓(TSPI+TSP2)499.62KW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S-04101    · 勝率 100%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6,466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9,699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9,699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9,699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35,563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8,888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具名維運機會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維運_BP_LOOP1_學甲_漁電型19M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S-03152    · 勝率 50%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356,250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356,250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89,063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具名維運機會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維運_BP_LOOP2_學甲_漁電型20M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S-03154    · 勝率 50%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375,000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1,125,000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1,125,000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2,625,000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656,250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具名維運機會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維運_中華三期_屋頂型567.9KW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S-03635    · 勝率 50%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39,399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39,399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39,399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39,399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157,596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39,396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具名維運機會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維運_林吉金屬_屋頂型607.7KW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S-03708    · 勝率 50%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30,006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30,006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30,006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30,006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120,024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30,012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修繕專案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修繕工程_旭忠(水上型) 3-6_1852.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S-03855    · 勝率 50%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6,945,750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6,945,750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13,891,500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3,472,878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具名維運機會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維運_新陽能源(英茂)_屋頂型252.52K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S-03900    · 勝率 50%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11,049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11,049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11,049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11,049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44,196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11,052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預估佔位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預估_維運機會_外來案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S-04168    · 勝率 50%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2,500,000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預估佔位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預估_修繕工程_分散型小案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S-04171    · 勝率 50%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3,750,000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3,750,000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7,500,000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1,875,000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預估佔位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預估_既有客戶服務升級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S-04173    · 勝率 50%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2,500,003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2,499,999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2,499,999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2,499,999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10,000,000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2,499,997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預估佔位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預估_修繕工程_大型修繕案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S-04175    · 勝率 50%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4,999,999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5,000,001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10,000,000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2,500,001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具名維運機會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維運_奇美_綠園道_地面型15272.28K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S-02783    · 勝率 30%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227,940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227,940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227,940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227,940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911,760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227,940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具名維運機會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維運_奇美(外來)_A倉庫_屋頂型_908.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S-03421    · 勝率 30%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22,494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22,494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22,494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22,494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89,976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22,500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具名維運機會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維運_奇美(外來)_B倉庫_屋頂型_2498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S-03423    · 勝率 30%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53,958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53,958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53,958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53,958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215,832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53,964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具名維運機會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維運_奇美(外來)_A車庫_屋頂型_90.1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S-03425    · 勝率 30%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5,958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5,958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5,958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5,958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23,832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5,964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具名維運機會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維運_大成長城_外來案(嘉義民雄)_屋頂型1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S-03925    · 勝率 30%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59,973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59,973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59,973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59,973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239,892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59,976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具名維運機會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維運_國泰_外來案_20MW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S-04113    · 勝率 30%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250,000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750,000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750,000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750,000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2,500,000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625,000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具名維運機會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維運_永鑫_外來案_27MW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S-03149    · 勝率 10%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180,000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270,000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270,000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270,000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990,000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247,500</a:t>
                      </a:r>
                    </a:p>
                  </a:txBody>
                  <a:tcPr>
                    <a:solidFill>
                      <a:srgbClr val="142742"/>
                    </a:solidFill>
                  </a:tcPr>
                </a:tc>
              </a:tr>
              <a:tr h="241071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合計(20筆)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維運機會預估小計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4,418,125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7,386,354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23,832,103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24,188,355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59,824,937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F8FAFC"/>
                          </a:solidFill>
                          <a:latin typeface="Microsoft JhengHei"/>
                        </a:defRPr>
                      </a:pPr>
                      <a:r>
                        <a:t>14,956,257</a:t>
                      </a:r>
                    </a:p>
                  </a:txBody>
                  <a:tcPr>
                    <a:solidFill>
                      <a:srgbClr val="0C19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